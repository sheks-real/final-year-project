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134"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A19FB2-7708-4794-9D62-FFE1578349B1}" type="datetimeFigureOut">
              <a:rPr lang="en-US" smtClean="0"/>
              <a:t>12/18/2020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30CFE2-DB68-4C50-824F-8CD76615FDE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1"/>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1000" r="-10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12/18/2020</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514600" y="4800600"/>
            <a:ext cx="3733800" cy="1477328"/>
          </a:xfrm>
          <a:prstGeom prst="rect">
            <a:avLst/>
          </a:prstGeom>
          <a:noFill/>
        </p:spPr>
        <p:txBody>
          <a:bodyPr wrap="square" rtlCol="0">
            <a:spAutoFit/>
          </a:bodyPr>
          <a:lstStyle/>
          <a:p>
            <a:r>
              <a:rPr lang="en-US" dirty="0" smtClean="0"/>
              <a:t>Presented by :</a:t>
            </a:r>
          </a:p>
          <a:p>
            <a:r>
              <a:rPr lang="en-US" dirty="0" smtClean="0"/>
              <a:t>Ajeet  Choudhary (1st17cs010)</a:t>
            </a:r>
          </a:p>
          <a:p>
            <a:r>
              <a:rPr lang="en-US" dirty="0" smtClean="0"/>
              <a:t>Abhishek Kumar (1st17cs006)</a:t>
            </a:r>
          </a:p>
          <a:p>
            <a:r>
              <a:rPr lang="en-US" dirty="0" smtClean="0"/>
              <a:t>Amit Kumar Sinha (1st17cs018)</a:t>
            </a:r>
          </a:p>
          <a:p>
            <a:r>
              <a:rPr lang="en-US" dirty="0" smtClean="0"/>
              <a:t>Aditiya Kontikal(1st17cs008)</a:t>
            </a:r>
            <a:endParaRPr lang="en-US" dirty="0"/>
          </a:p>
        </p:txBody>
      </p:sp>
      <p:sp>
        <p:nvSpPr>
          <p:cNvPr id="2" name="Title 1"/>
          <p:cNvSpPr>
            <a:spLocks noGrp="1"/>
          </p:cNvSpPr>
          <p:nvPr>
            <p:ph type="ctrTitle"/>
          </p:nvPr>
        </p:nvSpPr>
        <p:spPr>
          <a:xfrm>
            <a:off x="2057400" y="1905001"/>
            <a:ext cx="7315200" cy="1470025"/>
          </a:xfrm>
        </p:spPr>
        <p:txBody>
          <a:bodyPr>
            <a:normAutofit/>
          </a:bodyPr>
          <a:lstStyle/>
          <a:p>
            <a:r>
              <a:rPr lang="en-US" sz="2400" dirty="0" smtClean="0"/>
              <a:t>Final Year Project </a:t>
            </a:r>
            <a:r>
              <a:rPr lang="en-US" sz="2400" dirty="0" smtClean="0"/>
              <a:t>Presentation on</a:t>
            </a:r>
            <a:r>
              <a:rPr lang="en-US" sz="2800" dirty="0" smtClean="0"/>
              <a:t/>
            </a:r>
            <a:br>
              <a:rPr lang="en-US" sz="2800" dirty="0" smtClean="0"/>
            </a:br>
            <a:r>
              <a:rPr lang="en-US" sz="2800" dirty="0" smtClean="0"/>
              <a:t> </a:t>
            </a:r>
            <a:r>
              <a:rPr lang="en-US" sz="2400" dirty="0" smtClean="0">
                <a:latin typeface="Aharoni" pitchFamily="2" charset="-79"/>
                <a:cs typeface="Aharoni" pitchFamily="2" charset="-79"/>
              </a:rPr>
              <a:t>Identification Of Iris Flower Species Using Machine Learning</a:t>
            </a:r>
            <a:endParaRPr lang="en-US" sz="2400" dirty="0">
              <a:latin typeface="Aharoni" pitchFamily="2" charset="-79"/>
              <a:cs typeface="Aharoni" pitchFamily="2" charset="-79"/>
            </a:endParaRPr>
          </a:p>
        </p:txBody>
      </p:sp>
      <p:pic>
        <p:nvPicPr>
          <p:cNvPr id="4" name="Picture 3" descr="cropped-SaIT_Logo_high_resolution.jpg"/>
          <p:cNvPicPr>
            <a:picLocks noChangeAspect="1"/>
          </p:cNvPicPr>
          <p:nvPr/>
        </p:nvPicPr>
        <p:blipFill>
          <a:blip r:embed="rId2" cstate="print"/>
          <a:stretch>
            <a:fillRect/>
          </a:stretch>
        </p:blipFill>
        <p:spPr>
          <a:xfrm>
            <a:off x="5029200" y="228601"/>
            <a:ext cx="3073122" cy="559308"/>
          </a:xfrm>
          <a:prstGeom prst="rect">
            <a:avLst/>
          </a:prstGeom>
        </p:spPr>
      </p:pic>
      <p:sp>
        <p:nvSpPr>
          <p:cNvPr id="5" name="TextBox 4"/>
          <p:cNvSpPr txBox="1"/>
          <p:nvPr/>
        </p:nvSpPr>
        <p:spPr>
          <a:xfrm>
            <a:off x="4953000" y="838202"/>
            <a:ext cx="3124200" cy="646331"/>
          </a:xfrm>
          <a:prstGeom prst="rect">
            <a:avLst/>
          </a:prstGeom>
          <a:noFill/>
        </p:spPr>
        <p:txBody>
          <a:bodyPr wrap="square" rtlCol="0">
            <a:spAutoFit/>
          </a:bodyPr>
          <a:lstStyle/>
          <a:p>
            <a:r>
              <a:rPr lang="en-US" b="1" dirty="0" smtClean="0">
                <a:latin typeface="Agency FB" pitchFamily="34" charset="0"/>
              </a:rPr>
              <a:t>DEPARTMENT OF COMPUTER SCIENCE AND ENGINNERING</a:t>
            </a:r>
            <a:endParaRPr lang="en-US" b="1" dirty="0">
              <a:latin typeface="Agency FB" pitchFamily="34" charset="0"/>
            </a:endParaRPr>
          </a:p>
        </p:txBody>
      </p:sp>
      <p:sp>
        <p:nvSpPr>
          <p:cNvPr id="7" name="TextBox 6"/>
          <p:cNvSpPr txBox="1"/>
          <p:nvPr/>
        </p:nvSpPr>
        <p:spPr>
          <a:xfrm>
            <a:off x="6629400" y="4648200"/>
            <a:ext cx="1905000" cy="923330"/>
          </a:xfrm>
          <a:prstGeom prst="rect">
            <a:avLst/>
          </a:prstGeom>
          <a:noFill/>
        </p:spPr>
        <p:txBody>
          <a:bodyPr wrap="square" rtlCol="0">
            <a:spAutoFit/>
          </a:bodyPr>
          <a:lstStyle/>
          <a:p>
            <a:r>
              <a:rPr lang="en-US" dirty="0" smtClean="0"/>
              <a:t>Guide :</a:t>
            </a:r>
          </a:p>
          <a:p>
            <a:r>
              <a:rPr lang="en-US" dirty="0" smtClean="0"/>
              <a:t>Mrs. </a:t>
            </a:r>
            <a:r>
              <a:rPr lang="en-US" dirty="0" err="1" smtClean="0"/>
              <a:t>Asha</a:t>
            </a:r>
            <a:r>
              <a:rPr lang="en-US" dirty="0" smtClean="0"/>
              <a:t> ML</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29000" y="685802"/>
            <a:ext cx="4191000" cy="646331"/>
          </a:xfrm>
          <a:prstGeom prst="rect">
            <a:avLst/>
          </a:prstGeom>
          <a:noFill/>
        </p:spPr>
        <p:txBody>
          <a:bodyPr wrap="square" rtlCol="0">
            <a:spAutoFit/>
          </a:bodyPr>
          <a:lstStyle/>
          <a:p>
            <a:r>
              <a:rPr lang="en-US" sz="3600" dirty="0" smtClean="0"/>
              <a:t>Problem Statement</a:t>
            </a:r>
            <a:endParaRPr lang="en-US" sz="3600" dirty="0"/>
          </a:p>
        </p:txBody>
      </p:sp>
      <p:sp>
        <p:nvSpPr>
          <p:cNvPr id="5" name="TextBox 4"/>
          <p:cNvSpPr txBox="1"/>
          <p:nvPr/>
        </p:nvSpPr>
        <p:spPr>
          <a:xfrm>
            <a:off x="2971800" y="2286000"/>
            <a:ext cx="5562600" cy="3785652"/>
          </a:xfrm>
          <a:prstGeom prst="rect">
            <a:avLst/>
          </a:prstGeom>
          <a:noFill/>
        </p:spPr>
        <p:txBody>
          <a:bodyPr wrap="square" rtlCol="0">
            <a:spAutoFit/>
          </a:bodyPr>
          <a:lstStyle/>
          <a:p>
            <a:r>
              <a:rPr lang="en-US" sz="2400" dirty="0" smtClean="0"/>
              <a:t>Create the model that can classify the different species of the Iris flower.</a:t>
            </a:r>
          </a:p>
          <a:p>
            <a:endParaRPr lang="en-US" sz="2400" dirty="0" smtClean="0"/>
          </a:p>
          <a:p>
            <a:r>
              <a:rPr lang="en-US" sz="2400" dirty="0" smtClean="0"/>
              <a:t>Problem </a:t>
            </a:r>
            <a:r>
              <a:rPr lang="en-US" sz="2400" dirty="0" smtClean="0"/>
              <a:t>solving</a:t>
            </a:r>
            <a:r>
              <a:rPr lang="en-US" sz="2400" dirty="0" smtClean="0"/>
              <a:t>:</a:t>
            </a:r>
          </a:p>
          <a:p>
            <a:endParaRPr lang="en-US" sz="2400" dirty="0" smtClean="0"/>
          </a:p>
          <a:p>
            <a:r>
              <a:rPr lang="en-US" sz="2400" dirty="0" smtClean="0"/>
              <a:t>create the dataset.</a:t>
            </a:r>
          </a:p>
          <a:p>
            <a:r>
              <a:rPr lang="en-US" sz="2400" dirty="0" smtClean="0"/>
              <a:t>Build the model</a:t>
            </a:r>
          </a:p>
          <a:p>
            <a:r>
              <a:rPr lang="en-US" sz="2400" dirty="0" smtClean="0"/>
              <a:t>Train the model</a:t>
            </a:r>
          </a:p>
          <a:p>
            <a:r>
              <a:rPr lang="en-US" sz="2400" dirty="0" smtClean="0"/>
              <a:t>Make predictions.</a:t>
            </a:r>
          </a:p>
          <a:p>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229600" cy="1143000"/>
          </a:xfrm>
        </p:spPr>
        <p:txBody>
          <a:bodyPr/>
          <a:lstStyle/>
          <a:p>
            <a:r>
              <a:rPr lang="en-US" dirty="0" smtClean="0"/>
              <a:t>Project Objective</a:t>
            </a:r>
            <a:endParaRPr lang="en-US" dirty="0"/>
          </a:p>
        </p:txBody>
      </p:sp>
      <p:sp>
        <p:nvSpPr>
          <p:cNvPr id="3" name="Content Placeholder 2"/>
          <p:cNvSpPr>
            <a:spLocks noGrp="1"/>
          </p:cNvSpPr>
          <p:nvPr>
            <p:ph idx="1"/>
          </p:nvPr>
        </p:nvSpPr>
        <p:spPr>
          <a:xfrm>
            <a:off x="2743200" y="1752601"/>
            <a:ext cx="5943600" cy="5105401"/>
          </a:xfrm>
        </p:spPr>
        <p:txBody>
          <a:bodyPr>
            <a:normAutofit/>
          </a:bodyPr>
          <a:lstStyle/>
          <a:p>
            <a:r>
              <a:rPr lang="en-US" sz="2000" dirty="0" smtClean="0"/>
              <a:t>After the project has been settled, the computer should have the ability to aggregate three different classifications of Iris flower to three categories. The whole workflow of machine learning should work smoothly. The users do not need to tell the computer which class the Iris belongs to, the computer can recognize them all by itself. The final purpose of this project is to let everyone who read this thesis have a basic understanding of machine </a:t>
            </a:r>
            <a:r>
              <a:rPr lang="en-US" sz="2000" dirty="0" smtClean="0"/>
              <a:t>learning, </a:t>
            </a:r>
            <a:r>
              <a:rPr lang="en-US" sz="2000" dirty="0" smtClean="0"/>
              <a:t>the case study of Iris recognition will show how to implement machine learning</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work</a:t>
            </a:r>
            <a:endParaRPr lang="en-US" dirty="0"/>
          </a:p>
        </p:txBody>
      </p:sp>
      <p:pic>
        <p:nvPicPr>
          <p:cNvPr id="1027" name="Picture 3"/>
          <p:cNvPicPr>
            <a:picLocks noGrp="1" noChangeAspect="1" noChangeArrowheads="1"/>
          </p:cNvPicPr>
          <p:nvPr>
            <p:ph idx="1"/>
          </p:nvPr>
        </p:nvPicPr>
        <p:blipFill>
          <a:blip r:embed="rId2"/>
          <a:srcRect/>
          <a:stretch>
            <a:fillRect/>
          </a:stretch>
        </p:blipFill>
        <p:spPr bwMode="auto">
          <a:xfrm>
            <a:off x="2362200" y="2819400"/>
            <a:ext cx="6553200" cy="3810000"/>
          </a:xfrm>
          <a:prstGeom prst="rect">
            <a:avLst/>
          </a:prstGeom>
          <a:noFill/>
          <a:ln w="9525">
            <a:noFill/>
            <a:miter lim="800000"/>
            <a:headEnd/>
            <a:tailEnd/>
          </a:ln>
          <a:effectLst/>
        </p:spPr>
      </p:pic>
      <p:sp>
        <p:nvSpPr>
          <p:cNvPr id="6" name="TextBox 5"/>
          <p:cNvSpPr txBox="1"/>
          <p:nvPr/>
        </p:nvSpPr>
        <p:spPr>
          <a:xfrm>
            <a:off x="2819400" y="1295400"/>
            <a:ext cx="6172200" cy="1569660"/>
          </a:xfrm>
          <a:prstGeom prst="rect">
            <a:avLst/>
          </a:prstGeom>
          <a:noFill/>
        </p:spPr>
        <p:txBody>
          <a:bodyPr wrap="square" rtlCol="0">
            <a:spAutoFit/>
          </a:bodyPr>
          <a:lstStyle/>
          <a:p>
            <a:r>
              <a:rPr lang="en-US" sz="2400" dirty="0" smtClean="0"/>
              <a:t>The proposed method comprises of sub-phases that is Loading and Modeling as schematic diagram of the proposed</a:t>
            </a:r>
          </a:p>
          <a:p>
            <a:r>
              <a:rPr lang="en-US" sz="2400" dirty="0" smtClean="0"/>
              <a:t>model is given in </a:t>
            </a:r>
            <a:r>
              <a:rPr lang="en-US" sz="2400" dirty="0" smtClean="0"/>
              <a:t>figure.</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7" name="TextBox 6"/>
          <p:cNvSpPr txBox="1"/>
          <p:nvPr/>
        </p:nvSpPr>
        <p:spPr>
          <a:xfrm>
            <a:off x="2667000" y="1524002"/>
            <a:ext cx="6096000" cy="4247317"/>
          </a:xfrm>
          <a:prstGeom prst="rect">
            <a:avLst/>
          </a:prstGeom>
          <a:noFill/>
        </p:spPr>
        <p:txBody>
          <a:bodyPr wrap="square" rtlCol="0">
            <a:spAutoFit/>
          </a:bodyPr>
          <a:lstStyle/>
          <a:p>
            <a:r>
              <a:rPr lang="en-US" dirty="0" smtClean="0"/>
              <a:t>The objective of our methodology is to choose the best</a:t>
            </a:r>
          </a:p>
          <a:p>
            <a:r>
              <a:rPr lang="en-US" dirty="0" smtClean="0"/>
              <a:t>classification model which performs well on iris flower</a:t>
            </a:r>
          </a:p>
          <a:p>
            <a:r>
              <a:rPr lang="en-US" dirty="0" smtClean="0"/>
              <a:t>species identification. Learning models are created based on</a:t>
            </a:r>
          </a:p>
          <a:p>
            <a:r>
              <a:rPr lang="en-US" dirty="0" smtClean="0"/>
              <a:t>three machine learning algorithms: Support Vector Machine</a:t>
            </a:r>
          </a:p>
          <a:p>
            <a:r>
              <a:rPr lang="en-US" dirty="0" smtClean="0"/>
              <a:t>(SVM), Logistic Regression and K- Nearest Neighbor</a:t>
            </a:r>
          </a:p>
          <a:p>
            <a:r>
              <a:rPr lang="en-US" dirty="0" smtClean="0"/>
              <a:t>(KNN) classifier. For developing these methods four iris</a:t>
            </a:r>
          </a:p>
          <a:p>
            <a:r>
              <a:rPr lang="en-US" dirty="0" smtClean="0"/>
              <a:t>dataset features are used in the train and test datasets. All</a:t>
            </a:r>
          </a:p>
          <a:p>
            <a:r>
              <a:rPr lang="en-US" dirty="0" smtClean="0"/>
              <a:t>these algorithms are implemented using </a:t>
            </a:r>
            <a:r>
              <a:rPr lang="en-US" dirty="0" err="1" smtClean="0"/>
              <a:t>scikit</a:t>
            </a:r>
            <a:r>
              <a:rPr lang="en-US" dirty="0" smtClean="0"/>
              <a:t>-learn tool kit</a:t>
            </a:r>
          </a:p>
          <a:p>
            <a:r>
              <a:rPr lang="en-US" dirty="0" smtClean="0"/>
              <a:t>based on Python.</a:t>
            </a:r>
          </a:p>
          <a:p>
            <a:r>
              <a:rPr lang="en-US" dirty="0" smtClean="0"/>
              <a:t>In this analysis we are comparing the accuracy of three</a:t>
            </a:r>
          </a:p>
          <a:p>
            <a:r>
              <a:rPr lang="en-US" dirty="0" smtClean="0"/>
              <a:t>models and trying to find out which classification model</a:t>
            </a:r>
          </a:p>
          <a:p>
            <a:r>
              <a:rPr lang="en-US" dirty="0" smtClean="0"/>
              <a:t>holds good. To improve model accuracy, we have also used</a:t>
            </a:r>
          </a:p>
          <a:p>
            <a:r>
              <a:rPr lang="en-US" dirty="0" smtClean="0"/>
              <a:t>cross validation technique which evaluates the predictive</a:t>
            </a:r>
          </a:p>
          <a:p>
            <a:r>
              <a:rPr lang="en-US" dirty="0" smtClean="0"/>
              <a:t>models by dividing the original sample data into a training</a:t>
            </a:r>
          </a:p>
          <a:p>
            <a:r>
              <a:rPr lang="en-US" dirty="0" smtClean="0"/>
              <a:t>set in order to train the model and a test set to evaluate it.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200" y="2"/>
            <a:ext cx="6400800" cy="4031873"/>
          </a:xfrm>
          <a:prstGeom prst="rect">
            <a:avLst/>
          </a:prstGeom>
          <a:noFill/>
        </p:spPr>
        <p:txBody>
          <a:bodyPr wrap="square" rtlCol="0">
            <a:spAutoFit/>
          </a:bodyPr>
          <a:lstStyle/>
          <a:p>
            <a:endParaRPr lang="en-US" sz="2000" i="1" dirty="0" smtClean="0"/>
          </a:p>
          <a:p>
            <a:r>
              <a:rPr lang="en-US" sz="2000" b="1" dirty="0" smtClean="0">
                <a:latin typeface="Arial Black" pitchFamily="34" charset="0"/>
              </a:rPr>
              <a:t>A</a:t>
            </a:r>
            <a:r>
              <a:rPr lang="en-US" sz="2000" b="1" dirty="0" smtClean="0">
                <a:latin typeface="Arial Black" pitchFamily="34" charset="0"/>
              </a:rPr>
              <a:t>. Dataset</a:t>
            </a:r>
          </a:p>
          <a:p>
            <a:r>
              <a:rPr lang="en-US" dirty="0" smtClean="0"/>
              <a:t> </a:t>
            </a:r>
          </a:p>
          <a:p>
            <a:r>
              <a:rPr lang="en-US" dirty="0" smtClean="0"/>
              <a:t>For </a:t>
            </a:r>
            <a:r>
              <a:rPr lang="en-US" dirty="0" smtClean="0"/>
              <a:t>implementation purpose we have used Iris dataset</a:t>
            </a:r>
          </a:p>
          <a:p>
            <a:r>
              <a:rPr lang="en-US" dirty="0" smtClean="0"/>
              <a:t>which is a multivariate dataset that quantifies the structural</a:t>
            </a:r>
          </a:p>
          <a:p>
            <a:r>
              <a:rPr lang="en-US" dirty="0" smtClean="0"/>
              <a:t>variation of three species of iris flower. Classification is</a:t>
            </a:r>
          </a:p>
          <a:p>
            <a:r>
              <a:rPr lang="en-US" dirty="0" smtClean="0"/>
              <a:t>done on the basis of flower species which are Iris-</a:t>
            </a:r>
            <a:r>
              <a:rPr lang="en-US" dirty="0" err="1" smtClean="0"/>
              <a:t>setosa</a:t>
            </a:r>
            <a:r>
              <a:rPr lang="en-US" dirty="0" smtClean="0"/>
              <a:t>,</a:t>
            </a:r>
          </a:p>
          <a:p>
            <a:r>
              <a:rPr lang="en-US" dirty="0" smtClean="0"/>
              <a:t>Iris-</a:t>
            </a:r>
            <a:r>
              <a:rPr lang="en-US" dirty="0" err="1" smtClean="0"/>
              <a:t>versicolor</a:t>
            </a:r>
            <a:r>
              <a:rPr lang="en-US" dirty="0" smtClean="0"/>
              <a:t>, Iris-</a:t>
            </a:r>
            <a:r>
              <a:rPr lang="en-US" dirty="0" err="1" smtClean="0"/>
              <a:t>verginica</a:t>
            </a:r>
            <a:r>
              <a:rPr lang="en-US" dirty="0" smtClean="0"/>
              <a:t>. The dataset consists of 50</a:t>
            </a:r>
          </a:p>
          <a:p>
            <a:r>
              <a:rPr lang="en-US" dirty="0" smtClean="0"/>
              <a:t>samples from each of three species that, totals to 150</a:t>
            </a:r>
          </a:p>
          <a:p>
            <a:r>
              <a:rPr lang="en-US" dirty="0" smtClean="0"/>
              <a:t>samples. From each sample four features were measured</a:t>
            </a:r>
          </a:p>
          <a:p>
            <a:r>
              <a:rPr lang="en-US" dirty="0" smtClean="0"/>
              <a:t>that is, sepal length, petal length, sepal width, petal width –</a:t>
            </a:r>
          </a:p>
          <a:p>
            <a:r>
              <a:rPr lang="en-US" dirty="0" smtClean="0"/>
              <a:t>all in centimeters. The fifth attribute will be the species of</a:t>
            </a:r>
          </a:p>
          <a:p>
            <a:r>
              <a:rPr lang="en-US" dirty="0" smtClean="0"/>
              <a:t>the observed flower.</a:t>
            </a:r>
          </a:p>
          <a:p>
            <a:endParaRPr lang="en-US" dirty="0" smtClean="0"/>
          </a:p>
        </p:txBody>
      </p:sp>
      <p:pic>
        <p:nvPicPr>
          <p:cNvPr id="2050" name="Picture 2"/>
          <p:cNvPicPr>
            <a:picLocks noChangeAspect="1" noChangeArrowheads="1"/>
          </p:cNvPicPr>
          <p:nvPr/>
        </p:nvPicPr>
        <p:blipFill>
          <a:blip r:embed="rId2"/>
          <a:srcRect/>
          <a:stretch>
            <a:fillRect/>
          </a:stretch>
        </p:blipFill>
        <p:spPr bwMode="auto">
          <a:xfrm>
            <a:off x="2514603" y="3886200"/>
            <a:ext cx="2085975" cy="24479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724400" y="3962400"/>
            <a:ext cx="2209800" cy="21431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7010400" y="4495800"/>
            <a:ext cx="1981200" cy="1726564"/>
          </a:xfrm>
          <a:prstGeom prst="rect">
            <a:avLst/>
          </a:prstGeom>
          <a:noFill/>
          <a:ln w="9525">
            <a:noFill/>
            <a:miter lim="800000"/>
            <a:headEnd/>
            <a:tailEnd/>
          </a:ln>
          <a:effectLst>
            <a:outerShdw blurRad="50800" dist="50800" dir="5400000" sx="73000" sy="73000" algn="ctr" rotWithShape="0">
              <a:srgbClr val="000000">
                <a:alpha val="43137"/>
              </a:srgbClr>
            </a:outerShdw>
          </a:effectLst>
        </p:spPr>
      </p:pic>
      <p:sp>
        <p:nvSpPr>
          <p:cNvPr id="8" name="TextBox 7"/>
          <p:cNvSpPr txBox="1"/>
          <p:nvPr/>
        </p:nvSpPr>
        <p:spPr>
          <a:xfrm>
            <a:off x="4876800" y="6248400"/>
            <a:ext cx="2362200" cy="369332"/>
          </a:xfrm>
          <a:prstGeom prst="rect">
            <a:avLst/>
          </a:prstGeom>
          <a:noFill/>
        </p:spPr>
        <p:txBody>
          <a:bodyPr wrap="square" rtlCol="0">
            <a:spAutoFit/>
          </a:bodyPr>
          <a:lstStyle/>
          <a:p>
            <a:r>
              <a:rPr lang="en-US" dirty="0" smtClean="0"/>
              <a:t>Iris Flower Species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71800" y="152400"/>
            <a:ext cx="5715000" cy="1754326"/>
          </a:xfrm>
          <a:prstGeom prst="rect">
            <a:avLst/>
          </a:prstGeom>
          <a:noFill/>
        </p:spPr>
        <p:txBody>
          <a:bodyPr wrap="square" rtlCol="0">
            <a:spAutoFit/>
          </a:bodyPr>
          <a:lstStyle/>
          <a:p>
            <a:r>
              <a:rPr lang="en-US" dirty="0" smtClean="0"/>
              <a:t>each iris feature is distributed among</a:t>
            </a:r>
          </a:p>
          <a:p>
            <a:r>
              <a:rPr lang="en-US" dirty="0" smtClean="0"/>
              <a:t>three flower species. We have plotted the histogram of the</a:t>
            </a:r>
          </a:p>
          <a:p>
            <a:r>
              <a:rPr lang="en-US" dirty="0" smtClean="0"/>
              <a:t>targets with respect to each feature of the data set. We can</a:t>
            </a:r>
          </a:p>
          <a:p>
            <a:r>
              <a:rPr lang="en-US" dirty="0" smtClean="0"/>
              <a:t>clearly see the feature ‘petal width’ can distinguish better</a:t>
            </a:r>
          </a:p>
          <a:p>
            <a:r>
              <a:rPr lang="en-US" dirty="0" smtClean="0"/>
              <a:t>than sepal length, sepal width and petal length.</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2514603" y="1600201"/>
            <a:ext cx="4280719" cy="2571751"/>
          </a:xfrm>
          <a:prstGeom prst="rect">
            <a:avLst/>
          </a:prstGeom>
          <a:ln>
            <a:noFill/>
          </a:ln>
          <a:effectLst>
            <a:outerShdw blurRad="292100" dist="139700" dir="2700000" algn="tl" rotWithShape="0">
              <a:srgbClr val="333333">
                <a:alpha val="65000"/>
              </a:srgbClr>
            </a:outerShdw>
          </a:effectLst>
        </p:spPr>
      </p:pic>
      <p:pic>
        <p:nvPicPr>
          <p:cNvPr id="3075" name="Picture 3"/>
          <p:cNvPicPr>
            <a:picLocks noChangeAspect="1" noChangeArrowheads="1"/>
          </p:cNvPicPr>
          <p:nvPr/>
        </p:nvPicPr>
        <p:blipFill>
          <a:blip r:embed="rId3"/>
          <a:srcRect/>
          <a:stretch>
            <a:fillRect/>
          </a:stretch>
        </p:blipFill>
        <p:spPr bwMode="auto">
          <a:xfrm>
            <a:off x="3276600" y="4267201"/>
            <a:ext cx="4267200" cy="230981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895600" y="381000"/>
            <a:ext cx="4876800" cy="3067051"/>
          </a:xfrm>
          <a:prstGeom prst="rect">
            <a:avLst/>
          </a:prstGeom>
          <a:ln>
            <a:noFill/>
          </a:ln>
          <a:effectLst>
            <a:outerShdw blurRad="292100" dist="139700" dir="2700000" algn="tl" rotWithShape="0">
              <a:srgbClr val="333333">
                <a:alpha val="65000"/>
              </a:srgbClr>
            </a:outerShdw>
          </a:effectLst>
        </p:spPr>
      </p:pic>
      <p:pic>
        <p:nvPicPr>
          <p:cNvPr id="4099" name="Picture 3"/>
          <p:cNvPicPr>
            <a:picLocks noChangeAspect="1" noChangeArrowheads="1"/>
          </p:cNvPicPr>
          <p:nvPr/>
        </p:nvPicPr>
        <p:blipFill>
          <a:blip r:embed="rId3"/>
          <a:srcRect/>
          <a:stretch>
            <a:fillRect/>
          </a:stretch>
        </p:blipFill>
        <p:spPr bwMode="auto">
          <a:xfrm>
            <a:off x="3962400" y="3581401"/>
            <a:ext cx="4876800" cy="303847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90800" y="304802"/>
            <a:ext cx="6172200" cy="6186309"/>
          </a:xfrm>
          <a:prstGeom prst="rect">
            <a:avLst/>
          </a:prstGeom>
          <a:noFill/>
        </p:spPr>
        <p:txBody>
          <a:bodyPr wrap="square" rtlCol="0">
            <a:spAutoFit/>
          </a:bodyPr>
          <a:lstStyle/>
          <a:p>
            <a:r>
              <a:rPr lang="en-US" dirty="0" smtClean="0">
                <a:latin typeface="Arial Black" pitchFamily="34" charset="0"/>
              </a:rPr>
              <a:t>B. Loading</a:t>
            </a:r>
          </a:p>
          <a:p>
            <a:endParaRPr lang="en-US" dirty="0" smtClean="0"/>
          </a:p>
          <a:p>
            <a:r>
              <a:rPr lang="en-US" dirty="0" smtClean="0"/>
              <a:t>First </a:t>
            </a:r>
            <a:r>
              <a:rPr lang="en-US" dirty="0" smtClean="0"/>
              <a:t>we have collected dataset of Iris flower from UCI</a:t>
            </a:r>
          </a:p>
          <a:p>
            <a:r>
              <a:rPr lang="en-US" dirty="0" smtClean="0"/>
              <a:t>Machine Learning Repository. There are total 150 samples</a:t>
            </a:r>
          </a:p>
          <a:p>
            <a:r>
              <a:rPr lang="en-US" dirty="0" smtClean="0"/>
              <a:t>belong to three various species of Iris flower that is </a:t>
            </a:r>
            <a:r>
              <a:rPr lang="en-US" dirty="0" err="1" smtClean="0"/>
              <a:t>setosa</a:t>
            </a:r>
            <a:r>
              <a:rPr lang="en-US" dirty="0" smtClean="0"/>
              <a:t>,</a:t>
            </a:r>
          </a:p>
          <a:p>
            <a:r>
              <a:rPr lang="en-US" dirty="0" err="1" smtClean="0"/>
              <a:t>versicolor</a:t>
            </a:r>
            <a:r>
              <a:rPr lang="en-US" dirty="0" smtClean="0"/>
              <a:t>, </a:t>
            </a:r>
            <a:r>
              <a:rPr lang="en-US" dirty="0" err="1" smtClean="0"/>
              <a:t>virginica</a:t>
            </a:r>
            <a:r>
              <a:rPr lang="en-US" dirty="0" smtClean="0"/>
              <a:t>. In the next step, collected dataset is</a:t>
            </a:r>
          </a:p>
          <a:p>
            <a:r>
              <a:rPr lang="en-US" dirty="0" smtClean="0"/>
              <a:t>loaded into the machine learning model. Here, we have used</a:t>
            </a:r>
          </a:p>
          <a:p>
            <a:r>
              <a:rPr lang="en-US" dirty="0" err="1" smtClean="0"/>
              <a:t>scikit</a:t>
            </a:r>
            <a:r>
              <a:rPr lang="en-US" dirty="0" smtClean="0"/>
              <a:t> learn tool and </a:t>
            </a:r>
            <a:r>
              <a:rPr lang="en-US" dirty="0" err="1" smtClean="0"/>
              <a:t>load_iris</a:t>
            </a:r>
            <a:r>
              <a:rPr lang="en-US" dirty="0" smtClean="0"/>
              <a:t>( ) python function to import</a:t>
            </a:r>
          </a:p>
          <a:p>
            <a:r>
              <a:rPr lang="en-US" dirty="0" smtClean="0"/>
              <a:t>the Iris dataset from </a:t>
            </a:r>
            <a:r>
              <a:rPr lang="en-US" dirty="0" err="1" smtClean="0"/>
              <a:t>scikit</a:t>
            </a:r>
            <a:r>
              <a:rPr lang="en-US" dirty="0" smtClean="0"/>
              <a:t>-learn datasets. This function is</a:t>
            </a:r>
          </a:p>
          <a:p>
            <a:r>
              <a:rPr lang="en-US" dirty="0" smtClean="0"/>
              <a:t>used to run and save return value in an object called “Iris”.</a:t>
            </a:r>
          </a:p>
          <a:p>
            <a:r>
              <a:rPr lang="en-US" dirty="0" smtClean="0"/>
              <a:t>Then the attributes are assigned. In the Iris flower dataset</a:t>
            </a:r>
          </a:p>
          <a:p>
            <a:r>
              <a:rPr lang="en-US" dirty="0" smtClean="0"/>
              <a:t>attributes are data, feature names, target etc. and the target</a:t>
            </a:r>
          </a:p>
          <a:p>
            <a:r>
              <a:rPr lang="en-US" dirty="0" smtClean="0"/>
              <a:t>name for the Iris are classes that is </a:t>
            </a:r>
            <a:r>
              <a:rPr lang="en-US" dirty="0" err="1" smtClean="0"/>
              <a:t>setosa</a:t>
            </a:r>
            <a:r>
              <a:rPr lang="en-US" dirty="0" smtClean="0"/>
              <a:t>, </a:t>
            </a:r>
            <a:r>
              <a:rPr lang="en-US" dirty="0" err="1" smtClean="0"/>
              <a:t>virginca</a:t>
            </a:r>
            <a:r>
              <a:rPr lang="en-US" dirty="0" smtClean="0"/>
              <a:t>,</a:t>
            </a:r>
          </a:p>
          <a:p>
            <a:r>
              <a:rPr lang="en-US" dirty="0" err="1" smtClean="0"/>
              <a:t>versicolor</a:t>
            </a:r>
            <a:r>
              <a:rPr lang="en-US" dirty="0" smtClean="0"/>
              <a:t>. Feature names are nothing but sepal length, petal</a:t>
            </a:r>
          </a:p>
          <a:p>
            <a:r>
              <a:rPr lang="en-US" dirty="0" smtClean="0"/>
              <a:t>length, sepal width, petal width. Then dataset is divided into</a:t>
            </a:r>
          </a:p>
          <a:p>
            <a:r>
              <a:rPr lang="en-US" dirty="0" smtClean="0"/>
              <a:t>train and test data. Test data size is set to 40% while</a:t>
            </a:r>
          </a:p>
          <a:p>
            <a:r>
              <a:rPr lang="en-US" dirty="0" smtClean="0"/>
              <a:t>remaining 60% is kept for training purpose from the original</a:t>
            </a:r>
          </a:p>
          <a:p>
            <a:r>
              <a:rPr lang="en-US" dirty="0" smtClean="0"/>
              <a:t>dataset. Also </a:t>
            </a:r>
            <a:r>
              <a:rPr lang="en-US" dirty="0" err="1" smtClean="0"/>
              <a:t>random_state</a:t>
            </a:r>
            <a:r>
              <a:rPr lang="en-US" dirty="0" smtClean="0"/>
              <a:t> is set to 0. We should set</a:t>
            </a:r>
          </a:p>
          <a:p>
            <a:r>
              <a:rPr lang="en-US" dirty="0" smtClean="0"/>
              <a:t>random state to some random number. Because, if we run</a:t>
            </a:r>
          </a:p>
          <a:p>
            <a:r>
              <a:rPr lang="en-US" dirty="0" smtClean="0"/>
              <a:t>the model without specifying </a:t>
            </a:r>
            <a:r>
              <a:rPr lang="en-US" dirty="0" err="1" smtClean="0"/>
              <a:t>random_state</a:t>
            </a:r>
            <a:r>
              <a:rPr lang="en-US" dirty="0" smtClean="0"/>
              <a:t> we will get a</a:t>
            </a:r>
          </a:p>
          <a:p>
            <a:r>
              <a:rPr lang="en-US" dirty="0" smtClean="0"/>
              <a:t>different result every time when we execute, which makes</a:t>
            </a:r>
          </a:p>
          <a:p>
            <a:r>
              <a:rPr lang="en-US" dirty="0" smtClean="0"/>
              <a:t>difficulty in the accuracy analysis.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67000" y="533401"/>
            <a:ext cx="6324600" cy="5324535"/>
          </a:xfrm>
          <a:prstGeom prst="rect">
            <a:avLst/>
          </a:prstGeom>
          <a:noFill/>
        </p:spPr>
        <p:txBody>
          <a:bodyPr wrap="square" rtlCol="0">
            <a:spAutoFit/>
          </a:bodyPr>
          <a:lstStyle/>
          <a:p>
            <a:r>
              <a:rPr lang="en-US" sz="2000" b="1" dirty="0" smtClean="0"/>
              <a:t>C. Model selection</a:t>
            </a:r>
          </a:p>
          <a:p>
            <a:endParaRPr lang="en-US" sz="2000" dirty="0" smtClean="0"/>
          </a:p>
          <a:p>
            <a:r>
              <a:rPr lang="en-US" sz="2000" dirty="0" smtClean="0"/>
              <a:t>In </a:t>
            </a:r>
            <a:r>
              <a:rPr lang="en-US" sz="2000" dirty="0" smtClean="0"/>
              <a:t>this step we have imported the model, based on which</a:t>
            </a:r>
          </a:p>
          <a:p>
            <a:r>
              <a:rPr lang="en-US" sz="2000" dirty="0" smtClean="0"/>
              <a:t>species prediction should be done. From </a:t>
            </a:r>
            <a:r>
              <a:rPr lang="en-US" sz="2000" dirty="0" err="1" smtClean="0"/>
              <a:t>scikit</a:t>
            </a:r>
            <a:r>
              <a:rPr lang="en-US" sz="2000" dirty="0" smtClean="0"/>
              <a:t>-learn tool,</a:t>
            </a:r>
          </a:p>
          <a:p>
            <a:r>
              <a:rPr lang="en-US" sz="2000" dirty="0" smtClean="0"/>
              <a:t>three classifiers are imported as follows:</a:t>
            </a:r>
          </a:p>
          <a:p>
            <a:r>
              <a:rPr lang="en-US" sz="2000" i="1" dirty="0" smtClean="0"/>
              <a:t>1) Support Vector Machine</a:t>
            </a:r>
          </a:p>
          <a:p>
            <a:r>
              <a:rPr lang="en-US" sz="2000" dirty="0" smtClean="0"/>
              <a:t>SVM is a promising new strategy for the arrangement of</a:t>
            </a:r>
          </a:p>
          <a:p>
            <a:r>
              <a:rPr lang="en-US" sz="2000" dirty="0" smtClean="0"/>
              <a:t>both linear and non-linear information. It utilizes the non</a:t>
            </a:r>
          </a:p>
          <a:p>
            <a:r>
              <a:rPr lang="en-US" sz="2000" dirty="0" smtClean="0"/>
              <a:t>linear mapping to change the first preparing information</a:t>
            </a:r>
          </a:p>
          <a:p>
            <a:r>
              <a:rPr lang="en-US" sz="2000" dirty="0" smtClean="0"/>
              <a:t>into a higher measurement. Inside this new parameter, it</a:t>
            </a:r>
          </a:p>
          <a:p>
            <a:r>
              <a:rPr lang="en-US" sz="2000" dirty="0" smtClean="0"/>
              <a:t>looks for the isolating </a:t>
            </a:r>
            <a:r>
              <a:rPr lang="en-US" sz="2000" dirty="0" err="1" smtClean="0"/>
              <a:t>hyperplane</a:t>
            </a:r>
            <a:r>
              <a:rPr lang="en-US" sz="2000" dirty="0" smtClean="0"/>
              <a:t>. </a:t>
            </a:r>
            <a:r>
              <a:rPr lang="en-US" sz="2000" dirty="0" smtClean="0"/>
              <a:t>The </a:t>
            </a:r>
            <a:r>
              <a:rPr lang="en-US" sz="2000" dirty="0" err="1" smtClean="0"/>
              <a:t>hyperplane</a:t>
            </a:r>
            <a:endParaRPr lang="en-US" sz="2000" dirty="0" smtClean="0"/>
          </a:p>
          <a:p>
            <a:r>
              <a:rPr lang="en-US" sz="2000" dirty="0" smtClean="0"/>
              <a:t>utilizes set of vectors. Support vector machine is a</a:t>
            </a:r>
          </a:p>
          <a:p>
            <a:r>
              <a:rPr lang="en-US" sz="2000" dirty="0" smtClean="0"/>
              <a:t>supervised machine learning algorithm which is used for</a:t>
            </a:r>
          </a:p>
          <a:p>
            <a:r>
              <a:rPr lang="en-US" sz="2000" dirty="0" smtClean="0"/>
              <a:t>both classification and regression problems. In this</a:t>
            </a:r>
          </a:p>
          <a:p>
            <a:r>
              <a:rPr lang="en-US" sz="2000" dirty="0" smtClean="0"/>
              <a:t>algorithm, we have plotted data item in n dimensional </a:t>
            </a:r>
            <a:r>
              <a:rPr lang="en-US" sz="2000" dirty="0" smtClean="0"/>
              <a:t>space </a:t>
            </a:r>
            <a:r>
              <a:rPr lang="en-US" sz="2000" dirty="0" smtClean="0"/>
              <a:t>(n is number of features considered in IRIS dataset) </a:t>
            </a:r>
            <a:r>
              <a:rPr lang="en-US" sz="2000" dirty="0" smtClean="0"/>
              <a:t>and then </a:t>
            </a:r>
            <a:r>
              <a:rPr lang="en-US" sz="2000" dirty="0" smtClean="0"/>
              <a:t>classification has been done.</a:t>
            </a:r>
            <a:endParaRPr 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3048003" y="228600"/>
            <a:ext cx="4495801" cy="3124200"/>
          </a:xfrm>
          <a:prstGeom prst="rect">
            <a:avLst/>
          </a:prstGeom>
          <a:noFill/>
          <a:ln w="9525">
            <a:noFill/>
            <a:miter lim="800000"/>
            <a:headEnd/>
            <a:tailEnd/>
          </a:ln>
          <a:effectLst/>
        </p:spPr>
      </p:pic>
      <p:sp>
        <p:nvSpPr>
          <p:cNvPr id="5" name="TextBox 4"/>
          <p:cNvSpPr txBox="1"/>
          <p:nvPr/>
        </p:nvSpPr>
        <p:spPr>
          <a:xfrm>
            <a:off x="2438400" y="3505201"/>
            <a:ext cx="6553200" cy="3139321"/>
          </a:xfrm>
          <a:prstGeom prst="rect">
            <a:avLst/>
          </a:prstGeom>
          <a:noFill/>
        </p:spPr>
        <p:txBody>
          <a:bodyPr wrap="square" rtlCol="0" anchor="b">
            <a:spAutoFit/>
          </a:bodyPr>
          <a:lstStyle/>
          <a:p>
            <a:pPr algn="ctr"/>
            <a:r>
              <a:rPr lang="en-US" dirty="0" smtClean="0"/>
              <a:t>SVM </a:t>
            </a:r>
            <a:r>
              <a:rPr lang="en-US" dirty="0" smtClean="0"/>
              <a:t>Hyper plane</a:t>
            </a:r>
            <a:endParaRPr lang="en-US" dirty="0" smtClean="0"/>
          </a:p>
          <a:p>
            <a:r>
              <a:rPr lang="en-US" dirty="0" smtClean="0"/>
              <a:t>We have implemented learning model using </a:t>
            </a:r>
            <a:r>
              <a:rPr lang="en-US" dirty="0" smtClean="0"/>
              <a:t>SVM algorithm</a:t>
            </a:r>
            <a:r>
              <a:rPr lang="en-US" dirty="0" smtClean="0"/>
              <a:t>. SVC( ) function of sklearn is used to import </a:t>
            </a:r>
            <a:r>
              <a:rPr lang="en-US" dirty="0" smtClean="0"/>
              <a:t>the model</a:t>
            </a:r>
            <a:r>
              <a:rPr lang="en-US" dirty="0" smtClean="0"/>
              <a:t>. Predictions are made on the input test set. </a:t>
            </a:r>
            <a:r>
              <a:rPr lang="en-US" dirty="0" smtClean="0"/>
              <a:t>After comparing </a:t>
            </a:r>
            <a:r>
              <a:rPr lang="en-US" dirty="0" smtClean="0"/>
              <a:t>the actual response values with </a:t>
            </a:r>
            <a:r>
              <a:rPr lang="en-US" dirty="0" smtClean="0"/>
              <a:t>predicted response </a:t>
            </a:r>
            <a:r>
              <a:rPr lang="en-US" dirty="0" smtClean="0"/>
              <a:t>values, we got the SVM model accuracy as 96</a:t>
            </a:r>
            <a:r>
              <a:rPr lang="en-US" dirty="0" smtClean="0"/>
              <a:t>%. </a:t>
            </a:r>
          </a:p>
          <a:p>
            <a:r>
              <a:rPr lang="en-US" dirty="0" smtClean="0"/>
              <a:t> </a:t>
            </a:r>
            <a:r>
              <a:rPr lang="en-US" i="1" dirty="0" smtClean="0"/>
              <a:t>2</a:t>
            </a:r>
            <a:r>
              <a:rPr lang="en-US" i="1" dirty="0" smtClean="0"/>
              <a:t>) Logistic regression</a:t>
            </a:r>
          </a:p>
          <a:p>
            <a:endParaRPr lang="en-US" dirty="0" smtClean="0"/>
          </a:p>
          <a:p>
            <a:r>
              <a:rPr lang="en-US" dirty="0" smtClean="0"/>
              <a:t>Logistic </a:t>
            </a:r>
            <a:r>
              <a:rPr lang="en-US" dirty="0" smtClean="0"/>
              <a:t>Regression is a statistical method for dataset</a:t>
            </a:r>
          </a:p>
          <a:p>
            <a:r>
              <a:rPr lang="en-US" dirty="0" smtClean="0"/>
              <a:t>analysis in which, there are one or more independent</a:t>
            </a:r>
          </a:p>
          <a:p>
            <a:r>
              <a:rPr lang="en-US" dirty="0" smtClean="0"/>
              <a:t>variables that determine the </a:t>
            </a:r>
            <a:r>
              <a:rPr lang="en-US" dirty="0" smtClean="0"/>
              <a:t>output.</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667000" y="914400"/>
            <a:ext cx="6172200" cy="4801314"/>
          </a:xfrm>
          <a:prstGeom prst="rect">
            <a:avLst/>
          </a:prstGeom>
          <a:noFill/>
        </p:spPr>
        <p:txBody>
          <a:bodyPr wrap="square" rtlCol="0">
            <a:spAutoFit/>
          </a:bodyPr>
          <a:lstStyle/>
          <a:p>
            <a:r>
              <a:rPr lang="en-US" dirty="0" smtClean="0"/>
              <a:t>The main </a:t>
            </a:r>
            <a:r>
              <a:rPr lang="en-US" dirty="0" smtClean="0"/>
              <a:t>objective of </a:t>
            </a:r>
            <a:r>
              <a:rPr lang="en-US" dirty="0" smtClean="0"/>
              <a:t>logistic regression is, it is a way used to split the data </a:t>
            </a:r>
            <a:r>
              <a:rPr lang="en-US" dirty="0" smtClean="0"/>
              <a:t>to get </a:t>
            </a:r>
            <a:r>
              <a:rPr lang="en-US" dirty="0" smtClean="0"/>
              <a:t>an accurate prediction of the class which uses </a:t>
            </a:r>
            <a:r>
              <a:rPr lang="en-US" dirty="0" smtClean="0"/>
              <a:t>the present </a:t>
            </a:r>
            <a:r>
              <a:rPr lang="en-US" dirty="0" smtClean="0"/>
              <a:t>information. Here in this Iris flower dataset, we </a:t>
            </a:r>
            <a:r>
              <a:rPr lang="en-US" dirty="0" smtClean="0"/>
              <a:t>are examining </a:t>
            </a:r>
            <a:r>
              <a:rPr lang="en-US" dirty="0" smtClean="0"/>
              <a:t>the Iris dataset. This classifier finds the method</a:t>
            </a:r>
          </a:p>
          <a:p>
            <a:r>
              <a:rPr lang="en-US" dirty="0" smtClean="0"/>
              <a:t>to split the given data based on length, width of Iris flower.</a:t>
            </a:r>
          </a:p>
          <a:p>
            <a:r>
              <a:rPr lang="en-US" dirty="0" smtClean="0"/>
              <a:t>One of the famous classification algorithms is logistic</a:t>
            </a:r>
          </a:p>
          <a:p>
            <a:r>
              <a:rPr lang="en-US" dirty="0" smtClean="0"/>
              <a:t>regression to analyze the target feature. It is a Nonlinear</a:t>
            </a:r>
          </a:p>
          <a:p>
            <a:r>
              <a:rPr lang="en-US" dirty="0" smtClean="0"/>
              <a:t>function which uses the sigmoid function as hypothesis</a:t>
            </a:r>
          </a:p>
          <a:p>
            <a:r>
              <a:rPr lang="en-US" dirty="0" smtClean="0"/>
              <a:t>which is given by p=1/(1+e-y). Here categorical and binary</a:t>
            </a:r>
          </a:p>
          <a:p>
            <a:r>
              <a:rPr lang="en-US" dirty="0" smtClean="0"/>
              <a:t>data are taken as the target variable. It is based on binary</a:t>
            </a:r>
          </a:p>
          <a:p>
            <a:r>
              <a:rPr lang="en-US" dirty="0" smtClean="0"/>
              <a:t>outcome i.e. 1/0 or Yes/No or True/False. Logistic</a:t>
            </a:r>
          </a:p>
          <a:p>
            <a:r>
              <a:rPr lang="en-US" dirty="0" smtClean="0"/>
              <a:t>Regression works well with large dataset.</a:t>
            </a:r>
          </a:p>
          <a:p>
            <a:endParaRPr lang="en-US" dirty="0" smtClean="0"/>
          </a:p>
          <a:p>
            <a:r>
              <a:rPr lang="en-US" dirty="0" err="1" smtClean="0"/>
              <a:t>LogisticRegression</a:t>
            </a:r>
            <a:r>
              <a:rPr lang="en-US" dirty="0" smtClean="0"/>
              <a:t>( ) function </a:t>
            </a:r>
            <a:r>
              <a:rPr lang="en-US" dirty="0" smtClean="0"/>
              <a:t>from </a:t>
            </a:r>
            <a:r>
              <a:rPr lang="en-US" dirty="0" err="1" smtClean="0"/>
              <a:t>sklearn.linear_model</a:t>
            </a:r>
            <a:r>
              <a:rPr lang="en-US" dirty="0" smtClean="0"/>
              <a:t> </a:t>
            </a:r>
            <a:r>
              <a:rPr lang="en-US" dirty="0" smtClean="0"/>
              <a:t>is used here to import the model. </a:t>
            </a:r>
            <a:r>
              <a:rPr lang="en-US" dirty="0" smtClean="0"/>
              <a:t>After examining </a:t>
            </a:r>
            <a:r>
              <a:rPr lang="en-US" dirty="0" smtClean="0"/>
              <a:t>the Iris dataset on the basis of logistic </a:t>
            </a:r>
            <a:r>
              <a:rPr lang="en-US" dirty="0" smtClean="0"/>
              <a:t>regression we </a:t>
            </a:r>
            <a:r>
              <a:rPr lang="en-US" dirty="0" smtClean="0"/>
              <a:t>got the model accuracy as 91%.</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2700" y="990601"/>
            <a:ext cx="6591300" cy="4524315"/>
          </a:xfrm>
          <a:prstGeom prst="rect">
            <a:avLst/>
          </a:prstGeom>
          <a:noFill/>
        </p:spPr>
        <p:txBody>
          <a:bodyPr wrap="square" rtlCol="0">
            <a:spAutoFit/>
          </a:bodyPr>
          <a:lstStyle/>
          <a:p>
            <a:r>
              <a:rPr lang="en-US" i="1" dirty="0" smtClean="0"/>
              <a:t>3) K- Nearest Neighbor Classifier</a:t>
            </a:r>
          </a:p>
          <a:p>
            <a:endParaRPr lang="en-US" dirty="0" smtClean="0"/>
          </a:p>
          <a:p>
            <a:r>
              <a:rPr lang="en-US" dirty="0" smtClean="0"/>
              <a:t>K-Nearest </a:t>
            </a:r>
            <a:r>
              <a:rPr lang="en-US" dirty="0" smtClean="0"/>
              <a:t>Neighbor is used for both classification and</a:t>
            </a:r>
          </a:p>
          <a:p>
            <a:r>
              <a:rPr lang="en-US" dirty="0" smtClean="0"/>
              <a:t>regression problems. KNN belongs to supervised learning.</a:t>
            </a:r>
          </a:p>
          <a:p>
            <a:r>
              <a:rPr lang="en-US" dirty="0" smtClean="0"/>
              <a:t>This algorithm is easy to understand. KNN model is entirely</a:t>
            </a:r>
          </a:p>
          <a:p>
            <a:r>
              <a:rPr lang="en-US" dirty="0" smtClean="0"/>
              <a:t>based on the training dataset. Here whenever we require</a:t>
            </a:r>
          </a:p>
          <a:p>
            <a:r>
              <a:rPr lang="en-US" dirty="0" smtClean="0"/>
              <a:t>prediction for unseen data, this algorithm will search for </a:t>
            </a:r>
            <a:r>
              <a:rPr lang="en-US" dirty="0" err="1" smtClean="0"/>
              <a:t>kmost</a:t>
            </a:r>
            <a:endParaRPr lang="en-US" dirty="0" smtClean="0"/>
          </a:p>
          <a:p>
            <a:r>
              <a:rPr lang="en-US" dirty="0" smtClean="0"/>
              <a:t>similar instances. K-nearest neighbor classifier is</a:t>
            </a:r>
          </a:p>
          <a:p>
            <a:r>
              <a:rPr lang="en-US" dirty="0" smtClean="0"/>
              <a:t>powerful because, in order to perform classification it will</a:t>
            </a:r>
          </a:p>
          <a:p>
            <a:r>
              <a:rPr lang="en-US" dirty="0" smtClean="0"/>
              <a:t>measure the distance between two instances to find the</a:t>
            </a:r>
          </a:p>
          <a:p>
            <a:r>
              <a:rPr lang="en-US" dirty="0" smtClean="0"/>
              <a:t>similarity. Then based on the similarity, it will classify the</a:t>
            </a:r>
          </a:p>
          <a:p>
            <a:r>
              <a:rPr lang="en-US" dirty="0" smtClean="0"/>
              <a:t>incoming data.</a:t>
            </a:r>
          </a:p>
          <a:p>
            <a:r>
              <a:rPr lang="en-US" dirty="0" smtClean="0"/>
              <a:t>For implementation of KNN classifier, we have used</a:t>
            </a:r>
          </a:p>
          <a:p>
            <a:r>
              <a:rPr lang="en-US" dirty="0" err="1" smtClean="0"/>
              <a:t>KneighborsClassifier</a:t>
            </a:r>
            <a:r>
              <a:rPr lang="en-US" dirty="0" smtClean="0"/>
              <a:t>(</a:t>
            </a:r>
            <a:r>
              <a:rPr lang="en-US" dirty="0" err="1" smtClean="0"/>
              <a:t>n_neighbors</a:t>
            </a:r>
            <a:r>
              <a:rPr lang="en-US" dirty="0" smtClean="0"/>
              <a:t>=3) function from</a:t>
            </a:r>
          </a:p>
          <a:p>
            <a:r>
              <a:rPr lang="en-US" dirty="0" err="1" smtClean="0"/>
              <a:t>sklearn.neighbors</a:t>
            </a:r>
            <a:r>
              <a:rPr lang="en-US" dirty="0" smtClean="0"/>
              <a:t> package. Based on the predictions, we got</a:t>
            </a:r>
          </a:p>
          <a:p>
            <a:r>
              <a:rPr lang="en-US" dirty="0" smtClean="0"/>
              <a:t>the model accuracy as 93%</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29840" y="533400"/>
            <a:ext cx="6614160" cy="5663089"/>
          </a:xfrm>
          <a:prstGeom prst="rect">
            <a:avLst/>
          </a:prstGeom>
          <a:noFill/>
        </p:spPr>
        <p:txBody>
          <a:bodyPr wrap="square" rtlCol="0">
            <a:spAutoFit/>
          </a:bodyPr>
          <a:lstStyle/>
          <a:p>
            <a:r>
              <a:rPr lang="en-US" sz="2400" b="1" dirty="0" smtClean="0"/>
              <a:t>D. Cross validation</a:t>
            </a:r>
          </a:p>
          <a:p>
            <a:endParaRPr lang="en-US" sz="1400" dirty="0" smtClean="0"/>
          </a:p>
          <a:p>
            <a:r>
              <a:rPr lang="en-US" dirty="0" smtClean="0"/>
              <a:t>Cross </a:t>
            </a:r>
            <a:r>
              <a:rPr lang="en-US" dirty="0" smtClean="0"/>
              <a:t>validation is a technique to reserve a </a:t>
            </a:r>
            <a:r>
              <a:rPr lang="en-US" dirty="0" smtClean="0"/>
              <a:t>particular sample </a:t>
            </a:r>
            <a:r>
              <a:rPr lang="en-US" dirty="0" smtClean="0"/>
              <a:t>of a dataset using which model is not trained. </a:t>
            </a:r>
            <a:r>
              <a:rPr lang="en-US" dirty="0" smtClean="0"/>
              <a:t>Each training </a:t>
            </a:r>
            <a:r>
              <a:rPr lang="en-US" dirty="0" smtClean="0"/>
              <a:t>subset is validated with this portion of sample </a:t>
            </a:r>
            <a:r>
              <a:rPr lang="en-US" dirty="0" smtClean="0"/>
              <a:t>data before </a:t>
            </a:r>
            <a:r>
              <a:rPr lang="en-US" dirty="0" smtClean="0"/>
              <a:t>finalizing. While validating, first we have to </a:t>
            </a:r>
            <a:r>
              <a:rPr lang="en-US" dirty="0" smtClean="0"/>
              <a:t>reserve the </a:t>
            </a:r>
            <a:r>
              <a:rPr lang="en-US" dirty="0" smtClean="0"/>
              <a:t>sample of dataset, and next we have to train this </a:t>
            </a:r>
            <a:r>
              <a:rPr lang="en-US" dirty="0" smtClean="0"/>
              <a:t>model by </a:t>
            </a:r>
            <a:r>
              <a:rPr lang="en-US" dirty="0" smtClean="0"/>
              <a:t>using left over part of the dataset. And again we have </a:t>
            </a:r>
            <a:r>
              <a:rPr lang="en-US" dirty="0" smtClean="0"/>
              <a:t>to use </a:t>
            </a:r>
            <a:r>
              <a:rPr lang="en-US" dirty="0" smtClean="0"/>
              <a:t>reserve samples of the test set </a:t>
            </a:r>
            <a:r>
              <a:rPr lang="en-US" dirty="0" smtClean="0"/>
              <a:t>or validation </a:t>
            </a:r>
            <a:r>
              <a:rPr lang="en-US" dirty="0" smtClean="0"/>
              <a:t>set which </a:t>
            </a:r>
            <a:r>
              <a:rPr lang="en-US" dirty="0" smtClean="0"/>
              <a:t>is helpful </a:t>
            </a:r>
            <a:r>
              <a:rPr lang="en-US" dirty="0" smtClean="0"/>
              <a:t>for the effectiveness of </a:t>
            </a:r>
            <a:r>
              <a:rPr lang="en-US" dirty="0" smtClean="0"/>
              <a:t>model performance</a:t>
            </a:r>
            <a:r>
              <a:rPr lang="en-US" dirty="0" smtClean="0"/>
              <a:t>.</a:t>
            </a:r>
          </a:p>
          <a:p>
            <a:r>
              <a:rPr lang="en-US" dirty="0" smtClean="0"/>
              <a:t>Cross Validation steps:</a:t>
            </a:r>
          </a:p>
          <a:p>
            <a:r>
              <a:rPr lang="en-US" dirty="0" err="1" smtClean="0"/>
              <a:t>i</a:t>
            </a:r>
            <a:r>
              <a:rPr lang="en-US" dirty="0" smtClean="0"/>
              <a:t>) First we should reserve sample data</a:t>
            </a:r>
          </a:p>
          <a:p>
            <a:r>
              <a:rPr lang="en-US" dirty="0" smtClean="0"/>
              <a:t>ii) Train the model using remained portion of the</a:t>
            </a:r>
          </a:p>
          <a:p>
            <a:r>
              <a:rPr lang="en-US" dirty="0" smtClean="0"/>
              <a:t>datasets</a:t>
            </a:r>
          </a:p>
          <a:p>
            <a:r>
              <a:rPr lang="en-US" dirty="0" smtClean="0"/>
              <a:t>iii) To check model’s performance, now we </a:t>
            </a:r>
            <a:r>
              <a:rPr lang="en-US" dirty="0" smtClean="0"/>
              <a:t>should reserve </a:t>
            </a:r>
            <a:r>
              <a:rPr lang="en-US" dirty="0" smtClean="0"/>
              <a:t>sample of the test set. If the model gives good</a:t>
            </a:r>
          </a:p>
          <a:p>
            <a:r>
              <a:rPr lang="en-US" dirty="0" smtClean="0"/>
              <a:t>result with this validation data, then that model can </a:t>
            </a:r>
            <a:r>
              <a:rPr lang="en-US" dirty="0" smtClean="0"/>
              <a:t>be considered </a:t>
            </a:r>
            <a:r>
              <a:rPr lang="en-US" dirty="0" smtClean="0"/>
              <a:t>as a good </a:t>
            </a:r>
            <a:r>
              <a:rPr lang="en-US" dirty="0" smtClean="0"/>
              <a:t>model. The </a:t>
            </a:r>
            <a:r>
              <a:rPr lang="en-US" dirty="0" smtClean="0"/>
              <a:t>main advantage of cross validation is to get more</a:t>
            </a:r>
          </a:p>
          <a:p>
            <a:r>
              <a:rPr lang="en-US" dirty="0" smtClean="0"/>
              <a:t>accurate estimate result from the sample accuracy and it </a:t>
            </a:r>
            <a:r>
              <a:rPr lang="en-US" dirty="0" smtClean="0"/>
              <a:t>is more </a:t>
            </a:r>
            <a:r>
              <a:rPr lang="en-US" dirty="0" smtClean="0"/>
              <a:t>efficient and helpful for the effectiveness of </a:t>
            </a:r>
            <a:r>
              <a:rPr lang="en-US" dirty="0" smtClean="0"/>
              <a:t>model performance.</a:t>
            </a:r>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2.PNG"/>
          <p:cNvPicPr>
            <a:picLocks noChangeAspect="1"/>
          </p:cNvPicPr>
          <p:nvPr/>
        </p:nvPicPr>
        <p:blipFill>
          <a:blip r:embed="rId2"/>
          <a:stretch>
            <a:fillRect/>
          </a:stretch>
        </p:blipFill>
        <p:spPr>
          <a:xfrm>
            <a:off x="2578129" y="990600"/>
            <a:ext cx="6369875" cy="4953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67000" y="685800"/>
            <a:ext cx="6248400" cy="2954655"/>
          </a:xfrm>
          <a:prstGeom prst="rect">
            <a:avLst/>
          </a:prstGeom>
          <a:noFill/>
        </p:spPr>
        <p:txBody>
          <a:bodyPr wrap="square" rtlCol="0">
            <a:spAutoFit/>
          </a:bodyPr>
          <a:lstStyle/>
          <a:p>
            <a:r>
              <a:rPr lang="en-US" sz="2400" b="1" dirty="0" smtClean="0"/>
              <a:t>E. Confusion Matrix</a:t>
            </a:r>
          </a:p>
          <a:p>
            <a:endParaRPr lang="en-US" dirty="0" smtClean="0"/>
          </a:p>
          <a:p>
            <a:r>
              <a:rPr lang="en-US" dirty="0" smtClean="0"/>
              <a:t>A </a:t>
            </a:r>
            <a:r>
              <a:rPr lang="en-US" dirty="0" smtClean="0"/>
              <a:t>Confusion matrix is a table to describe classification</a:t>
            </a:r>
          </a:p>
          <a:p>
            <a:r>
              <a:rPr lang="en-US" dirty="0" smtClean="0"/>
              <a:t>model performance. It is based on test data for which,</a:t>
            </a:r>
          </a:p>
          <a:p>
            <a:r>
              <a:rPr lang="en-US" dirty="0" smtClean="0"/>
              <a:t>output label is already known. Confusion matrix gives clear</a:t>
            </a:r>
          </a:p>
          <a:p>
            <a:r>
              <a:rPr lang="en-US" dirty="0" smtClean="0"/>
              <a:t>idea about model is giving proper outcome or not. Also it is</a:t>
            </a:r>
          </a:p>
          <a:p>
            <a:r>
              <a:rPr lang="en-US" dirty="0" smtClean="0"/>
              <a:t>easy to identify the model errors. We have calculated model</a:t>
            </a:r>
          </a:p>
          <a:p>
            <a:r>
              <a:rPr lang="en-US" dirty="0" smtClean="0"/>
              <a:t>accuracy score using confusion matrix.</a:t>
            </a:r>
          </a:p>
          <a:p>
            <a:endParaRPr lang="en-US" dirty="0" smtClean="0"/>
          </a:p>
          <a:p>
            <a:r>
              <a:rPr lang="en-US" dirty="0" smtClean="0"/>
              <a:t>TABLE I. ILLUSTRATION OF SAMPLE IRIS DATASET</a:t>
            </a:r>
            <a:endParaRPr lang="en-US" dirty="0"/>
          </a:p>
        </p:txBody>
      </p:sp>
      <p:pic>
        <p:nvPicPr>
          <p:cNvPr id="5" name="Picture 4" descr="111.PNG"/>
          <p:cNvPicPr>
            <a:picLocks noChangeAspect="1"/>
          </p:cNvPicPr>
          <p:nvPr/>
        </p:nvPicPr>
        <p:blipFill>
          <a:blip r:embed="rId2"/>
          <a:stretch>
            <a:fillRect/>
          </a:stretch>
        </p:blipFill>
        <p:spPr>
          <a:xfrm>
            <a:off x="2438400" y="3733800"/>
            <a:ext cx="6553200" cy="274494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alpha val="33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14600" y="0"/>
            <a:ext cx="5257800" cy="838200"/>
          </a:xfrm>
        </p:spPr>
        <p:txBody>
          <a:bodyPr/>
          <a:lstStyle/>
          <a:p>
            <a:r>
              <a:rPr lang="en-US" dirty="0" smtClean="0"/>
              <a:t>Software Used</a:t>
            </a:r>
            <a:endParaRPr lang="en-US" dirty="0"/>
          </a:p>
        </p:txBody>
      </p:sp>
      <p:pic>
        <p:nvPicPr>
          <p:cNvPr id="7170" name="Picture 2" descr="Digits Dataset scikit-learn Data Visualization in Python"/>
          <p:cNvPicPr>
            <a:picLocks noChangeAspect="1" noChangeArrowheads="1"/>
          </p:cNvPicPr>
          <p:nvPr/>
        </p:nvPicPr>
        <p:blipFill>
          <a:blip r:embed="rId2"/>
          <a:srcRect/>
          <a:stretch>
            <a:fillRect/>
          </a:stretch>
        </p:blipFill>
        <p:spPr bwMode="auto">
          <a:xfrm>
            <a:off x="228600" y="1447800"/>
            <a:ext cx="3944472" cy="1524000"/>
          </a:xfrm>
          <a:prstGeom prst="rect">
            <a:avLst/>
          </a:prstGeom>
          <a:noFill/>
        </p:spPr>
      </p:pic>
      <p:pic>
        <p:nvPicPr>
          <p:cNvPr id="7172" name="Picture 4" descr="How to create NumPy arrays from scratch? | by Tanu N Prabhu | Towards Data  Science"/>
          <p:cNvPicPr>
            <a:picLocks noChangeAspect="1" noChangeArrowheads="1"/>
          </p:cNvPicPr>
          <p:nvPr/>
        </p:nvPicPr>
        <p:blipFill>
          <a:blip r:embed="rId3"/>
          <a:srcRect/>
          <a:stretch>
            <a:fillRect/>
          </a:stretch>
        </p:blipFill>
        <p:spPr bwMode="auto">
          <a:xfrm>
            <a:off x="-228600" y="2971800"/>
            <a:ext cx="4762931" cy="1905000"/>
          </a:xfrm>
          <a:prstGeom prst="rect">
            <a:avLst/>
          </a:prstGeom>
          <a:noFill/>
        </p:spPr>
      </p:pic>
      <p:pic>
        <p:nvPicPr>
          <p:cNvPr id="7174" name="Picture 6" descr="Pandas on Ray - A Library to Make Pandas Faster with Just One Line of Code"/>
          <p:cNvPicPr>
            <a:picLocks noChangeAspect="1" noChangeArrowheads="1"/>
          </p:cNvPicPr>
          <p:nvPr/>
        </p:nvPicPr>
        <p:blipFill>
          <a:blip r:embed="rId4"/>
          <a:srcRect/>
          <a:stretch>
            <a:fillRect/>
          </a:stretch>
        </p:blipFill>
        <p:spPr bwMode="auto">
          <a:xfrm>
            <a:off x="304800" y="4648200"/>
            <a:ext cx="3169921" cy="1981201"/>
          </a:xfrm>
          <a:prstGeom prst="rect">
            <a:avLst/>
          </a:prstGeom>
          <a:noFill/>
        </p:spPr>
      </p:pic>
      <p:sp>
        <p:nvSpPr>
          <p:cNvPr id="7" name="TextBox 6"/>
          <p:cNvSpPr txBox="1"/>
          <p:nvPr/>
        </p:nvSpPr>
        <p:spPr>
          <a:xfrm>
            <a:off x="533400" y="838200"/>
            <a:ext cx="1828800" cy="369332"/>
          </a:xfrm>
          <a:prstGeom prst="rect">
            <a:avLst/>
          </a:prstGeom>
          <a:noFill/>
        </p:spPr>
        <p:txBody>
          <a:bodyPr wrap="square" rtlCol="0">
            <a:spAutoFit/>
          </a:bodyPr>
          <a:lstStyle/>
          <a:p>
            <a:r>
              <a:rPr lang="en-US" dirty="0" smtClean="0"/>
              <a:t>Module used</a:t>
            </a:r>
            <a:endParaRPr lang="en-US" dirty="0"/>
          </a:p>
        </p:txBody>
      </p:sp>
      <p:pic>
        <p:nvPicPr>
          <p:cNvPr id="7176" name="Picture 8" descr="Project Jupyter - Wikipedia"/>
          <p:cNvPicPr>
            <a:picLocks noChangeAspect="1" noChangeArrowheads="1"/>
          </p:cNvPicPr>
          <p:nvPr/>
        </p:nvPicPr>
        <p:blipFill>
          <a:blip r:embed="rId5" cstate="print"/>
          <a:srcRect/>
          <a:stretch>
            <a:fillRect/>
          </a:stretch>
        </p:blipFill>
        <p:spPr bwMode="auto">
          <a:xfrm>
            <a:off x="5867401" y="914401"/>
            <a:ext cx="2175642" cy="1752600"/>
          </a:xfrm>
          <a:prstGeom prst="rect">
            <a:avLst/>
          </a:prstGeom>
          <a:noFill/>
        </p:spPr>
      </p:pic>
      <p:pic>
        <p:nvPicPr>
          <p:cNvPr id="7178" name="Picture 10" descr="Learn Web Development (Course includes HTML, CSS, Java Script)- Tecwallet"/>
          <p:cNvPicPr>
            <a:picLocks noChangeAspect="1" noChangeArrowheads="1"/>
          </p:cNvPicPr>
          <p:nvPr/>
        </p:nvPicPr>
        <p:blipFill>
          <a:blip r:embed="rId6"/>
          <a:srcRect/>
          <a:stretch>
            <a:fillRect/>
          </a:stretch>
        </p:blipFill>
        <p:spPr bwMode="auto">
          <a:xfrm>
            <a:off x="5334000" y="2743200"/>
            <a:ext cx="3276600" cy="1919831"/>
          </a:xfrm>
          <a:prstGeom prst="rect">
            <a:avLst/>
          </a:prstGeom>
          <a:noFill/>
        </p:spPr>
      </p:pic>
      <p:pic>
        <p:nvPicPr>
          <p:cNvPr id="7180" name="Picture 12" descr="File:PyCharm Logo.svg - Wikimedia Commons"/>
          <p:cNvPicPr>
            <a:picLocks noChangeAspect="1" noChangeArrowheads="1"/>
          </p:cNvPicPr>
          <p:nvPr/>
        </p:nvPicPr>
        <p:blipFill>
          <a:blip r:embed="rId7" cstate="print"/>
          <a:srcRect/>
          <a:stretch>
            <a:fillRect/>
          </a:stretch>
        </p:blipFill>
        <p:spPr bwMode="auto">
          <a:xfrm>
            <a:off x="5943600" y="4648200"/>
            <a:ext cx="2030413" cy="2030413"/>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2514600" y="1295400"/>
            <a:ext cx="6858000" cy="4449763"/>
          </a:xfrm>
        </p:spPr>
        <p:txBody>
          <a:bodyPr>
            <a:noAutofit/>
          </a:bodyPr>
          <a:lstStyle/>
          <a:p>
            <a:r>
              <a:rPr lang="en-US" sz="1600" dirty="0" smtClean="0"/>
              <a:t>[1] </a:t>
            </a:r>
            <a:r>
              <a:rPr lang="en-US" sz="1600" dirty="0" err="1" smtClean="0"/>
              <a:t>Diptam</a:t>
            </a:r>
            <a:r>
              <a:rPr lang="en-US" sz="1600" dirty="0" smtClean="0"/>
              <a:t> </a:t>
            </a:r>
            <a:r>
              <a:rPr lang="en-US" sz="1600" dirty="0" err="1" smtClean="0"/>
              <a:t>Dutta</a:t>
            </a:r>
            <a:r>
              <a:rPr lang="en-US" sz="1600" dirty="0" smtClean="0"/>
              <a:t>, </a:t>
            </a:r>
            <a:r>
              <a:rPr lang="en-US" sz="1600" dirty="0" err="1" smtClean="0"/>
              <a:t>Argha</a:t>
            </a:r>
            <a:r>
              <a:rPr lang="en-US" sz="1600" dirty="0" smtClean="0"/>
              <a:t> Roy, </a:t>
            </a:r>
            <a:r>
              <a:rPr lang="en-US" sz="1600" dirty="0" err="1" smtClean="0"/>
              <a:t>Kaustav</a:t>
            </a:r>
            <a:r>
              <a:rPr lang="en-US" sz="1600" dirty="0" smtClean="0"/>
              <a:t> </a:t>
            </a:r>
            <a:r>
              <a:rPr lang="en-US" sz="1600" dirty="0" err="1" smtClean="0"/>
              <a:t>Choudhury</a:t>
            </a:r>
            <a:r>
              <a:rPr lang="en-US" sz="1600" dirty="0" smtClean="0"/>
              <a:t>, “Training </a:t>
            </a:r>
            <a:r>
              <a:rPr lang="en-US" sz="1600" dirty="0" err="1" smtClean="0"/>
              <a:t>Aritificial</a:t>
            </a:r>
            <a:endParaRPr lang="en-US" sz="1600" dirty="0" smtClean="0"/>
          </a:p>
          <a:p>
            <a:r>
              <a:rPr lang="en-US" sz="1600" dirty="0" smtClean="0"/>
              <a:t>Neural Network Using Particle Swarm Optimization Algorithm”,</a:t>
            </a:r>
          </a:p>
          <a:p>
            <a:r>
              <a:rPr lang="en-US" sz="1600" dirty="0" smtClean="0"/>
              <a:t>International Journal on Computer Science And Engineering(IJCSE),</a:t>
            </a:r>
          </a:p>
          <a:p>
            <a:r>
              <a:rPr lang="en-US" sz="1600" dirty="0" smtClean="0"/>
              <a:t>Volume 3, Issue 3, March 2013.</a:t>
            </a:r>
          </a:p>
          <a:p>
            <a:r>
              <a:rPr lang="en-US" sz="1600" dirty="0" smtClean="0"/>
              <a:t>[2] </a:t>
            </a:r>
            <a:r>
              <a:rPr lang="en-US" sz="1600" dirty="0" err="1" smtClean="0"/>
              <a:t>Poojitha</a:t>
            </a:r>
            <a:r>
              <a:rPr lang="en-US" sz="1600" dirty="0" smtClean="0"/>
              <a:t> V, </a:t>
            </a:r>
            <a:r>
              <a:rPr lang="en-US" sz="1600" dirty="0" err="1" smtClean="0"/>
              <a:t>Shilpi</a:t>
            </a:r>
            <a:r>
              <a:rPr lang="en-US" sz="1600" dirty="0" smtClean="0"/>
              <a:t> Jain, “A </a:t>
            </a:r>
            <a:r>
              <a:rPr lang="en-US" sz="1600" dirty="0" err="1" smtClean="0"/>
              <a:t>Collecation</a:t>
            </a:r>
            <a:r>
              <a:rPr lang="en-US" sz="1600" dirty="0" smtClean="0"/>
              <a:t> of IRIS Flower Using Neural</a:t>
            </a:r>
          </a:p>
          <a:p>
            <a:r>
              <a:rPr lang="en-US" sz="1600" dirty="0" smtClean="0"/>
              <a:t>Network </a:t>
            </a:r>
            <a:r>
              <a:rPr lang="en-US" sz="1600" dirty="0" err="1" smtClean="0"/>
              <a:t>CLusterimg</a:t>
            </a:r>
            <a:r>
              <a:rPr lang="en-US" sz="1600" dirty="0" smtClean="0"/>
              <a:t> tool in MATLAB”, International Journal on</a:t>
            </a:r>
          </a:p>
          <a:p>
            <a:r>
              <a:rPr lang="en-US" sz="1600" dirty="0" smtClean="0"/>
              <a:t>Computer Science And Engineering(IJCSE).</a:t>
            </a:r>
          </a:p>
          <a:p>
            <a:r>
              <a:rPr lang="en-US" sz="1600" dirty="0" smtClean="0"/>
              <a:t>[3] </a:t>
            </a:r>
            <a:r>
              <a:rPr lang="en-US" sz="1600" dirty="0" err="1" smtClean="0"/>
              <a:t>Vaishali</a:t>
            </a:r>
            <a:r>
              <a:rPr lang="en-US" sz="1600" dirty="0" smtClean="0"/>
              <a:t> </a:t>
            </a:r>
            <a:r>
              <a:rPr lang="en-US" sz="1600" dirty="0" err="1" smtClean="0"/>
              <a:t>Arya</a:t>
            </a:r>
            <a:r>
              <a:rPr lang="en-US" sz="1600" dirty="0" smtClean="0"/>
              <a:t>, R K </a:t>
            </a:r>
            <a:r>
              <a:rPr lang="en-US" sz="1600" dirty="0" err="1" smtClean="0"/>
              <a:t>Rathy</a:t>
            </a:r>
            <a:r>
              <a:rPr lang="en-US" sz="1600" dirty="0" smtClean="0"/>
              <a:t>, “An Efficient Neural-Fuzzy Approach For</a:t>
            </a:r>
          </a:p>
          <a:p>
            <a:r>
              <a:rPr lang="en-US" sz="1600" dirty="0" smtClean="0"/>
              <a:t>Classification of Dataset”, International Conference on Reliability,</a:t>
            </a:r>
          </a:p>
          <a:p>
            <a:r>
              <a:rPr lang="en-US" sz="1600" dirty="0" smtClean="0"/>
              <a:t>Optimization and Information Technology Feb 2014.</a:t>
            </a:r>
          </a:p>
          <a:p>
            <a:r>
              <a:rPr lang="en-US" sz="1600" dirty="0" smtClean="0"/>
              <a:t>[4] Cho, </a:t>
            </a:r>
            <a:r>
              <a:rPr lang="en-US" sz="1600" dirty="0" err="1" smtClean="0"/>
              <a:t>SungBae.and</a:t>
            </a:r>
            <a:r>
              <a:rPr lang="en-US" sz="1600" dirty="0" smtClean="0"/>
              <a:t> </a:t>
            </a:r>
            <a:r>
              <a:rPr lang="en-US" sz="1600" dirty="0" err="1" smtClean="0"/>
              <a:t>Dehuri</a:t>
            </a:r>
            <a:r>
              <a:rPr lang="en-US" sz="1600" dirty="0" smtClean="0"/>
              <a:t>, </a:t>
            </a:r>
            <a:r>
              <a:rPr lang="en-US" sz="1600" dirty="0" err="1" smtClean="0"/>
              <a:t>Satchidananda</a:t>
            </a:r>
            <a:r>
              <a:rPr lang="en-US" sz="1600" dirty="0" smtClean="0"/>
              <a:t> (2009) “A comprehensive</a:t>
            </a:r>
          </a:p>
          <a:p>
            <a:r>
              <a:rPr lang="en-US" sz="1600" dirty="0" smtClean="0"/>
              <a:t>survey on functional link neural network and an adaptive PSOBP</a:t>
            </a:r>
          </a:p>
          <a:p>
            <a:r>
              <a:rPr lang="en-US" sz="1600" dirty="0" smtClean="0"/>
              <a:t>learning for CFLNN, Neural </a:t>
            </a:r>
            <a:r>
              <a:rPr lang="en-US" sz="1600" dirty="0" err="1" smtClean="0"/>
              <a:t>Comput</a:t>
            </a:r>
            <a:r>
              <a:rPr lang="en-US" sz="1600" dirty="0" smtClean="0"/>
              <a:t> &amp;</a:t>
            </a:r>
          </a:p>
          <a:p>
            <a:r>
              <a:rPr lang="en-US" sz="1600" dirty="0" smtClean="0"/>
              <a:t>Application”DOI10.1007/s00521-00902885</a:t>
            </a:r>
          </a:p>
          <a:p>
            <a:r>
              <a:rPr lang="en-US" sz="1600" dirty="0" smtClean="0"/>
              <a:t>[5] </a:t>
            </a:r>
            <a:r>
              <a:rPr lang="en-US" sz="1600" dirty="0" err="1" smtClean="0"/>
              <a:t>Patric</a:t>
            </a:r>
            <a:r>
              <a:rPr lang="en-US" sz="1600" dirty="0" smtClean="0"/>
              <a:t> s </a:t>
            </a:r>
            <a:r>
              <a:rPr lang="en-US" sz="1600" dirty="0" err="1" smtClean="0"/>
              <a:t>hoye</a:t>
            </a:r>
            <a:r>
              <a:rPr lang="en-US" sz="1600" dirty="0" smtClean="0"/>
              <a:t> “</a:t>
            </a:r>
            <a:r>
              <a:rPr lang="en-US" sz="1600" dirty="0" err="1" smtClean="0"/>
              <a:t>stastical</a:t>
            </a:r>
            <a:r>
              <a:rPr lang="en-US" sz="1600" dirty="0" smtClean="0"/>
              <a:t> analysis of iris flower dataset” University of</a:t>
            </a:r>
          </a:p>
          <a:p>
            <a:r>
              <a:rPr lang="en-US" sz="1600" dirty="0" smtClean="0"/>
              <a:t>[6] Massachusetts At Lowell</a:t>
            </a:r>
          </a:p>
          <a:p>
            <a:r>
              <a:rPr lang="en-US" sz="1600" dirty="0" smtClean="0"/>
              <a:t>[7] Card, S., </a:t>
            </a:r>
            <a:r>
              <a:rPr lang="en-US" sz="1600" dirty="0" err="1" smtClean="0"/>
              <a:t>Mackinlay</a:t>
            </a:r>
            <a:r>
              <a:rPr lang="en-US" sz="1600" dirty="0" smtClean="0"/>
              <a:t>, J., and </a:t>
            </a:r>
            <a:r>
              <a:rPr lang="en-US" sz="1600" dirty="0" err="1" smtClean="0"/>
              <a:t>Shneiderman</a:t>
            </a:r>
            <a:r>
              <a:rPr lang="en-US" sz="1600" dirty="0" smtClean="0"/>
              <a:t>, B. </a:t>
            </a:r>
            <a:r>
              <a:rPr lang="en-US" sz="1600" dirty="0" smtClean="0"/>
              <a:t>Information</a:t>
            </a:r>
            <a:endParaRPr lang="en-US" sz="16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1672</Words>
  <Application>Microsoft Office PowerPoint</Application>
  <PresentationFormat>On-screen Show (4:3)</PresentationFormat>
  <Paragraphs>169</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Final Year Project Presentation on  Identification Of Iris Flower Species Using Machine Learning</vt:lpstr>
      <vt:lpstr>Slide 2</vt:lpstr>
      <vt:lpstr>Project Objective</vt:lpstr>
      <vt:lpstr>Proposed work</vt:lpstr>
      <vt:lpstr>Methodology</vt:lpstr>
      <vt:lpstr>Slide 6</vt:lpstr>
      <vt:lpstr>Slide 7</vt:lpstr>
      <vt:lpstr>Slide 8</vt:lpstr>
      <vt:lpstr>Slide 9</vt:lpstr>
      <vt:lpstr>Slide 10</vt:lpstr>
      <vt:lpstr>Slide 11</vt:lpstr>
      <vt:lpstr>Slide 12</vt:lpstr>
      <vt:lpstr>Slide 13</vt:lpstr>
      <vt:lpstr>Slide 14</vt:lpstr>
      <vt:lpstr>Slide 15</vt:lpstr>
      <vt:lpstr>Slide 16</vt:lpstr>
      <vt:lpstr>Software Used</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shek</dc:creator>
  <cp:lastModifiedBy>shek</cp:lastModifiedBy>
  <cp:revision>23</cp:revision>
  <dcterms:created xsi:type="dcterms:W3CDTF">2006-08-16T00:00:00Z</dcterms:created>
  <dcterms:modified xsi:type="dcterms:W3CDTF">2020-12-18T09:41:51Z</dcterms:modified>
</cp:coreProperties>
</file>